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图书馆借还系统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DEFB"/>
                </a:solidFill>
                <a:latin typeface="Microsoft YaHei"/>
              </a:defRPr>
            </a:pPr>
            <a:r>
              <a:t>基于 Java Servlet + JSP + MySQL 的图书借阅归还管理平台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JavaWeb 期末答辩</a:t>
            </a:r>
          </a:p>
          <a:p>
            <a:pPr>
              <a:spcAft>
                <a:spcPts val="9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800" b="0">
                <a:solidFill>
                  <a:srgbClr val="E3F2FD"/>
                </a:solidFill>
                <a:latin typeface="Microsoft YaHei"/>
              </a:defRPr>
            </a:pPr>
            <a:r>
              <a:t>专    业：计算机科学与技术</a:t>
            </a:r>
          </a:p>
          <a:p>
            <a:pPr>
              <a:spcAft>
                <a:spcPts val="900"/>
              </a:spcAft>
              <a:defRPr sz="1800" b="0">
                <a:solidFill>
                  <a:srgbClr val="E3F2FD"/>
                </a:solidFill>
                <a:latin typeface="Microsoft YaHei"/>
              </a:defRPr>
            </a:pPr>
            <a:r>
              <a:t>指导教师：_______________</a:t>
            </a:r>
          </a:p>
          <a:p>
            <a:pPr>
              <a:spcAft>
                <a:spcPts val="900"/>
              </a:spcAft>
              <a:defRPr sz="1800" b="0">
                <a:solidFill>
                  <a:srgbClr val="E3F2FD"/>
                </a:solidFill>
                <a:latin typeface="Microsoft YaHei"/>
              </a:defRPr>
            </a:pPr>
            <a:r>
              <a:t>答辩日期：2026年6月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54864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47A1"/>
                </a:solidFill>
                <a:latin typeface="Microsoft YaHei"/>
              </a:defRPr>
            </a:pPr>
            <a:r>
              <a:t>目  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2377440"/>
            <a:ext cx="45720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423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项目背景与意义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2971800"/>
            <a:ext cx="45720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47A1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017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技术栈介绍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3566160"/>
            <a:ext cx="45720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611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47A1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611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系统架构设计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4160520"/>
            <a:ext cx="45720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47A1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206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4754880"/>
            <a:ext cx="45720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4800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47A1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800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功能模块展示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5349240"/>
            <a:ext cx="45720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53949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47A1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39495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核心代码解析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" y="5943600"/>
            <a:ext cx="45720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5989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47A1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项目总结与展望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54864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47A1"/>
                </a:solidFill>
                <a:latin typeface="Microsoft YaHei"/>
              </a:defRPr>
            </a:pPr>
            <a:r>
              <a:t>01  项目背景与意义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YaHei"/>
              </a:defRPr>
            </a:pPr>
            <a:r>
              <a:t>📋 项目背景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高校图书馆藏书量日益增长，传统人工管理效率低下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借还书记录容易遗漏、难以追溯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读者无法实时查询图书库存状态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需要一个轻量级的数字化管理工具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2C41A"/>
                </a:solidFill>
                <a:latin typeface="Microsoft YaHei"/>
              </a:defRPr>
            </a:pPr>
            <a:r>
              <a:t>🎯 项目意义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8346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✓ 实现在线图书检索与借阅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✓ 自动记录借还信息，告别纸质登记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✓ 管理员可高效管理图书和借阅记录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✓ 读者可随时查看自己的借阅历史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✓ 系统轻量，部署方便，适合小型图书馆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54864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47A1"/>
                </a:solidFill>
                <a:latin typeface="Microsoft YaHei"/>
              </a:defRPr>
            </a:pPr>
            <a:r>
              <a:t>02  技术栈介绍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377440"/>
            <a:ext cx="3108960" cy="17373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377440"/>
            <a:ext cx="3108960" cy="5486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47A1"/>
                </a:solidFill>
                <a:latin typeface="Microsoft YaHei"/>
              </a:defRPr>
            </a:pPr>
            <a:r>
              <a:t>☕ Java 8+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核心开发语言</a:t>
            </a:r>
            <a:br/>
            <a:r>
              <a:t>Servlet + JSP + JDBC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377440"/>
            <a:ext cx="3108960" cy="17373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2377440"/>
            <a:ext cx="3108960" cy="54864"/>
          </a:xfrm>
          <a:prstGeom prst="rect">
            <a:avLst/>
          </a:prstGeom>
          <a:solidFill>
            <a:srgbClr val="E0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59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7A00"/>
                </a:solidFill>
                <a:latin typeface="Microsoft YaHei"/>
              </a:defRPr>
            </a:pPr>
            <a:r>
              <a:t>🗄️ MySQL 8.0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关系型数据库</a:t>
            </a:r>
            <a:br/>
            <a:r>
              <a:t>InnoDB引擎 + 外键约束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377440"/>
            <a:ext cx="3108960" cy="17373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2377440"/>
            <a:ext cx="3108960" cy="54864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2C41A"/>
                </a:solidFill>
                <a:latin typeface="Microsoft YaHei"/>
              </a:defRPr>
            </a:pPr>
            <a:r>
              <a:t>🚀 Jetty 9.4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00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嵌入式Web服务器</a:t>
            </a:r>
            <a:br/>
            <a:r>
              <a:t>零配置，即跑即用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4480560"/>
            <a:ext cx="3108960" cy="17373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4480560"/>
            <a:ext cx="3108960" cy="54864"/>
          </a:xfrm>
          <a:prstGeom prst="rect">
            <a:avLst/>
          </a:prstGeom>
          <a:solidFill>
            <a:srgbClr val="E34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34E26"/>
                </a:solidFill>
                <a:latin typeface="Microsoft YaHei"/>
              </a:defRPr>
            </a:pPr>
            <a:r>
              <a:t>🎨 HTML5+CSS3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3035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前端页面构建</a:t>
            </a:r>
            <a:br/>
            <a:r>
              <a:t>Flexbox + Grid 响应式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4480560"/>
            <a:ext cx="3108960" cy="17373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4480560"/>
            <a:ext cx="3108960" cy="54864"/>
          </a:xfrm>
          <a:prstGeom prst="rect">
            <a:avLst/>
          </a:prstGeom>
          <a:solidFill>
            <a:srgbClr val="C7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59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71A36"/>
                </a:solidFill>
                <a:latin typeface="Microsoft YaHei"/>
              </a:defRPr>
            </a:pPr>
            <a:r>
              <a:t>📦 Maven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53035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项目构建与依赖管理</a:t>
            </a:r>
            <a:br/>
            <a:r>
              <a:t>一键编译运行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480560"/>
            <a:ext cx="3108960" cy="17373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480560"/>
            <a:ext cx="3108960" cy="54864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A1B9A"/>
                </a:solidFill>
                <a:latin typeface="Microsoft YaHei"/>
              </a:defRPr>
            </a:pPr>
            <a:r>
              <a:t>🔄 JSTL + 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53035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JSP标签库</a:t>
            </a:r>
            <a:br/>
            <a:r>
              <a:t>简化动态页面开发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54864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47A1"/>
                </a:solidFill>
                <a:latin typeface="Microsoft YaHei"/>
              </a:defRPr>
            </a:pPr>
            <a:r>
              <a:t>03  系统架构设计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286000"/>
            <a:ext cx="8503920" cy="9144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2286000"/>
            <a:ext cx="54864" cy="9144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73E8"/>
                </a:solidFill>
                <a:latin typeface="Microsoft YaHei"/>
              </a:defRPr>
            </a:pPr>
            <a:r>
              <a:t>表示层 (View)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377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JSP 页面 + CSS3</a:t>
            </a:r>
            <a:br/>
            <a:r>
              <a:t>登录/注册、图书列表、借阅管理、后台管理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337560"/>
            <a:ext cx="8503920" cy="9144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3337560"/>
            <a:ext cx="54864" cy="9144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47A1"/>
                </a:solidFill>
                <a:latin typeface="Microsoft YaHei"/>
              </a:defRPr>
            </a:pPr>
            <a:r>
              <a:t>控制层 (Controller)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429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Servlet (10个)</a:t>
            </a:r>
            <a:br/>
            <a:r>
              <a:t>LoginServlet · RegisterServlet · BorrowServlet · ReturnServlet · IndexServlet · SearchBookServlet · MyBorrowsServlet · AdminBookServlet · AdminBorrowsServlet · LogoutServlet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4389120"/>
            <a:ext cx="8503920" cy="9144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0" y="4389120"/>
            <a:ext cx="54864" cy="91440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44805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2C41A"/>
                </a:solidFill>
                <a:latin typeface="Microsoft YaHei"/>
              </a:defRPr>
            </a:pPr>
            <a:r>
              <a:t>业务逻辑层 (Service/DAO)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48055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UserDao · BookDao · BorrowDao</a:t>
            </a:r>
            <a:br/>
            <a:r>
              <a:t>封装数据库CRUD操作，处理借阅归还业务逻辑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5440679"/>
            <a:ext cx="8503920" cy="9144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0" y="5440679"/>
            <a:ext cx="54864" cy="91440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0" y="55321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A8C16"/>
                </a:solidFill>
                <a:latin typeface="Microsoft YaHei"/>
              </a:defRPr>
            </a:pPr>
            <a:r>
              <a:t>数据层 (Database)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53211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MySQL 8.0</a:t>
            </a:r>
            <a:br/>
            <a:r>
              <a:t>users表 · books表 · borrow_records表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154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206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5257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54864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47A1"/>
                </a:solidFill>
                <a:latin typeface="Microsoft YaHei"/>
              </a:defRPr>
            </a:pPr>
            <a:r>
              <a:t>04  数据库设计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Microsoft YaHei"/>
              </a:defRPr>
            </a:pPr>
            <a:r>
              <a:t>👤 users（用户表）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517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id          INT (PK, AUTO_INCREMENT)</a:t>
            </a:r>
          </a:p>
          <a:p>
            <a:pPr>
              <a:spcAft>
                <a:spcPts val="65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username    VARCHAR(50) UNIQUE</a:t>
            </a:r>
          </a:p>
          <a:p>
            <a:pPr>
              <a:spcAft>
                <a:spcPts val="65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password    VARCHAR(100)</a:t>
            </a:r>
          </a:p>
          <a:p>
            <a:pPr>
              <a:spcAft>
                <a:spcPts val="65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real_name   VARCHAR(50)</a:t>
            </a:r>
          </a:p>
          <a:p>
            <a:pPr>
              <a:spcAft>
                <a:spcPts val="65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phone       VARCHAR(20)</a:t>
            </a:r>
          </a:p>
          <a:p>
            <a:pPr>
              <a:spcAft>
                <a:spcPts val="650"/>
              </a:spcAft>
              <a:defRPr sz="1300" b="0">
                <a:solidFill>
                  <a:srgbClr val="FA8C16"/>
                </a:solidFill>
                <a:latin typeface="Microsoft YaHei"/>
              </a:defRPr>
            </a:pPr>
            <a:r>
              <a:t>role        ENUM('reader','admin')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2C41A"/>
                </a:solidFill>
                <a:latin typeface="Microsoft YaHei"/>
              </a:defRPr>
            </a:pPr>
            <a:r>
              <a:t>📕 books（图书表）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65176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id                INT (PK)</a:t>
            </a:r>
          </a:p>
          <a:p>
            <a:pPr>
              <a:spcAft>
                <a:spcPts val="65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title             VARCHAR(200)</a:t>
            </a:r>
          </a:p>
          <a:p>
            <a:pPr>
              <a:spcAft>
                <a:spcPts val="65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author            VARCHAR(100)</a:t>
            </a:r>
          </a:p>
          <a:p>
            <a:pPr>
              <a:spcAft>
                <a:spcPts val="65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isbn              VARCHAR(20) UNIQUE</a:t>
            </a:r>
          </a:p>
          <a:p>
            <a:pPr>
              <a:spcAft>
                <a:spcPts val="65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category          VARCHAR(50)</a:t>
            </a:r>
          </a:p>
          <a:p>
            <a:pPr>
              <a:spcAft>
                <a:spcPts val="65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total_copies      INT</a:t>
            </a:r>
          </a:p>
          <a:p>
            <a:pPr>
              <a:spcAft>
                <a:spcPts val="650"/>
              </a:spcAft>
              <a:defRPr sz="1300" b="0">
                <a:solidFill>
                  <a:srgbClr val="FA8C16"/>
                </a:solidFill>
                <a:latin typeface="Microsoft YaHei"/>
              </a:defRPr>
            </a:pPr>
            <a:r>
              <a:t>available_copies  INT   ← 可借数量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8C16"/>
                </a:solidFill>
                <a:latin typeface="Microsoft YaHei"/>
              </a:defRPr>
            </a:pPr>
            <a:r>
              <a:t>📋 borrow_records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6517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id            INT (PK)</a:t>
            </a:r>
          </a:p>
          <a:p>
            <a:pPr>
              <a:spcAft>
                <a:spcPts val="65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user_id       INT (FK→users)</a:t>
            </a:r>
          </a:p>
          <a:p>
            <a:pPr>
              <a:spcAft>
                <a:spcPts val="65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book_id       INT (FK→books)</a:t>
            </a:r>
          </a:p>
          <a:p>
            <a:pPr>
              <a:spcAft>
                <a:spcPts val="65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borrow_date   DATE</a:t>
            </a:r>
          </a:p>
          <a:p>
            <a:pPr>
              <a:spcAft>
                <a:spcPts val="65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due_date      DATE (借期30天)</a:t>
            </a:r>
          </a:p>
          <a:p>
            <a:pPr>
              <a:spcAft>
                <a:spcPts val="65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return_date   DATE (可空)</a:t>
            </a:r>
          </a:p>
          <a:p>
            <a:pPr>
              <a:spcAft>
                <a:spcPts val="650"/>
              </a:spcAft>
              <a:defRPr sz="1300" b="0">
                <a:solidFill>
                  <a:srgbClr val="FA8C16"/>
                </a:solidFill>
                <a:latin typeface="Microsoft YaHei"/>
              </a:defRPr>
            </a:pPr>
            <a:r>
              <a:t>status        ENUM('borrowed',</a:t>
            </a:r>
            <a:br/>
            <a:r>
              <a:t>               'returned','overdue')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5120640"/>
            <a:ext cx="10058400" cy="12801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5120640"/>
            <a:ext cx="54864" cy="12801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521208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D47A1"/>
                </a:solidFill>
                <a:latin typeface="Microsoft YaHei"/>
              </a:defRPr>
            </a:pPr>
            <a:r>
              <a:t>🔗 表关系：</a:t>
            </a:r>
          </a:p>
          <a:p>
            <a:pPr>
              <a:spcAft>
                <a:spcPts val="80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users (1) ──→ (N) borrow_records (N) ←── (1) books</a:t>
            </a:r>
          </a:p>
          <a:p>
            <a:pPr>
              <a:spcAft>
                <a:spcPts val="800"/>
              </a:spcAft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借阅记录表通过 user_id 和 book_id 外键关联用户和图书，实现多对多借阅关系。</a:t>
            </a:r>
          </a:p>
          <a:p>
            <a:pPr>
              <a:spcAft>
                <a:spcPts val="800"/>
              </a:spcAft>
              <a:defRPr sz="1400" b="0">
                <a:solidFill>
                  <a:srgbClr val="FA8C16"/>
                </a:solidFill>
                <a:latin typeface="Microsoft YaHei"/>
              </a:defRPr>
            </a:pPr>
            <a:r>
              <a:t>borrow 时：available_copies - 1  │  return 时：available_copies + 1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54864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47A1"/>
                </a:solidFill>
                <a:latin typeface="Microsoft YaHei"/>
              </a:defRPr>
            </a:pPr>
            <a:r>
              <a:t>05  功能模块展示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YaHei"/>
              </a:defRPr>
            </a:pPr>
            <a:r>
              <a:t>👨‍🎓 读者端功能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743200"/>
            <a:ext cx="4846320" cy="38404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88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用户注册与登录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200400"/>
            <a:ext cx="4846320" cy="38404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浏览图书列表（卡片式布局）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3657600"/>
            <a:ext cx="4846320" cy="38404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703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搜索图书（书名 / 作者 / ISBN / 分类）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4114800"/>
            <a:ext cx="4846320" cy="38404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160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一键借阅（自动生成30天借期）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4572000"/>
            <a:ext cx="4846320" cy="38404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617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我的借阅记录（查看 / 还书）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A8C16"/>
                </a:solidFill>
                <a:latin typeface="Microsoft YaHei"/>
              </a:defRPr>
            </a:pPr>
            <a:r>
              <a:t>🛠️ 管理员端功能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743200"/>
            <a:ext cx="4846320" cy="38404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788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图书管理（添加 / 编辑 / 删除）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3200400"/>
            <a:ext cx="4846320" cy="38404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模态框表单操作，体验流畅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3657600"/>
            <a:ext cx="4846320" cy="38404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3703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查看全部借阅记录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4114800"/>
            <a:ext cx="4846320" cy="38404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160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手动确认归还（超期等特殊情况）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572000"/>
            <a:ext cx="4846320" cy="38404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617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权限控制：非管理员无法访问后台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720" y="5303520"/>
            <a:ext cx="10058400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63040" y="548640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🔐 权限控制：</a:t>
            </a:r>
          </a:p>
          <a:p>
            <a:pPr>
              <a:spcAft>
                <a:spcPts val="800"/>
              </a:spcAft>
              <a:defRPr sz="1400" b="0">
                <a:solidFill>
                  <a:srgbClr val="BBDEFB"/>
                </a:solidFill>
                <a:latin typeface="Microsoft YaHei"/>
              </a:defRPr>
            </a:pPr>
            <a:r>
              <a:t>所有 Servlet 均校验 Session，普通读者无法访问管理后台，管理员自动跳转至管理页面。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54864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47A1"/>
                </a:solidFill>
                <a:latin typeface="Microsoft YaHei"/>
              </a:defRPr>
            </a:pPr>
            <a:r>
              <a:t>06  核心代码解析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3E8"/>
                </a:solidFill>
                <a:latin typeface="Microsoft YaHei"/>
              </a:defRPr>
            </a:pPr>
            <a:r>
              <a:t>📌 借书核心逻辑（BorrowServlet）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2468880"/>
            <a:ext cx="530352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 b="0">
                <a:solidFill>
                  <a:srgbClr val="6A995C"/>
                </a:solidFill>
                <a:latin typeface="Microsoft YaHei"/>
              </a:defRPr>
            </a:pPr>
            <a:r>
              <a:t>// 1. 检查库存</a:t>
            </a:r>
          </a:p>
          <a:p>
            <a:pPr>
              <a:spcAft>
                <a:spcPts val="55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if (book.getAvailableCopies() &lt;= 0) {</a:t>
            </a:r>
          </a:p>
          <a:p>
            <a:pPr>
              <a:spcAft>
                <a:spcPts val="55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 msg = "库存不足，无法借阅！";</a:t>
            </a:r>
          </a:p>
          <a:p>
            <a:pPr>
              <a:spcAft>
                <a:spcPts val="55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}</a:t>
            </a:r>
          </a:p>
          <a:p>
            <a:pPr>
              <a:spcAft>
                <a:spcPts val="550"/>
              </a:spcAft>
              <a:defRPr sz="1100" b="0">
                <a:solidFill>
                  <a:srgbClr val="6A995C"/>
                </a:solidFill>
                <a:latin typeface="Microsoft YaHei"/>
              </a:defRPr>
            </a:pPr>
            <a:r>
              <a:t>// 2. 检查是否已借过该书</a:t>
            </a:r>
          </a:p>
          <a:p>
            <a:pPr>
              <a:spcAft>
                <a:spcPts val="55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if (borrowDao.hasBorrowed(userId, bookId)) {</a:t>
            </a:r>
          </a:p>
          <a:p>
            <a:pPr>
              <a:spcAft>
                <a:spcPts val="55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    msg = "已借过，请勿重复借阅！";</a:t>
            </a:r>
          </a:p>
          <a:p>
            <a:pPr>
              <a:spcAft>
                <a:spcPts val="550"/>
              </a:spcAft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}</a:t>
            </a:r>
          </a:p>
          <a:p>
            <a:pPr>
              <a:spcAft>
                <a:spcPts val="550"/>
              </a:spcAft>
              <a:defRPr sz="1100" b="0">
                <a:solidFill>
                  <a:srgbClr val="6A995C"/>
                </a:solidFill>
                <a:latin typeface="Microsoft YaHei"/>
              </a:defRPr>
            </a:pPr>
            <a:r>
              <a:t>// 3. 创建记录 + 减库存（事务）</a:t>
            </a:r>
          </a:p>
          <a:p>
            <a:pPr>
              <a:spcAft>
                <a:spcPts val="550"/>
              </a:spcAft>
              <a:defRPr sz="1100" b="0">
                <a:solidFill>
                  <a:srgbClr val="D4D4D4"/>
                </a:solidFill>
                <a:latin typeface="Microsoft YaHei"/>
              </a:defRPr>
            </a:pPr>
            <a:r>
              <a:t>borrowDao.borrow(userId, bookId);</a:t>
            </a:r>
          </a:p>
          <a:p>
            <a:pPr>
              <a:spcAft>
                <a:spcPts val="550"/>
              </a:spcAft>
              <a:defRPr sz="1100" b="0">
                <a:solidFill>
                  <a:srgbClr val="D4D4D4"/>
                </a:solidFill>
                <a:latin typeface="Microsoft YaHei"/>
              </a:defRPr>
            </a:pPr>
            <a:r>
              <a:t>bookDao.decreaseAvailable(bookId);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2C41A"/>
                </a:solidFill>
                <a:latin typeface="Microsoft YaHei"/>
              </a:defRPr>
            </a:pPr>
            <a:r>
              <a:t>📌 关键SQL语句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468880"/>
            <a:ext cx="502920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256032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A995C"/>
                </a:solidFill>
                <a:latin typeface="Microsoft YaHei"/>
              </a:defRPr>
            </a:pPr>
            <a:r>
              <a:t>-- 借书（自动生成30天借期）</a:t>
            </a:r>
          </a:p>
          <a:p>
            <a:pPr>
              <a:spcAft>
                <a:spcPts val="500"/>
              </a:spcAft>
              <a:defRPr sz="1000" b="0">
                <a:solidFill>
                  <a:srgbClr val="569CD6"/>
                </a:solidFill>
                <a:latin typeface="Microsoft YaHei"/>
              </a:defRPr>
            </a:pPr>
            <a:r>
              <a:t>INSERT INTO borrow_records</a:t>
            </a:r>
          </a:p>
          <a:p>
            <a:pPr>
              <a:spcAft>
                <a:spcPts val="500"/>
              </a:spcAft>
              <a:defRPr sz="1000" b="0">
                <a:solidFill>
                  <a:srgbClr val="569CD6"/>
                </a:solidFill>
                <a:latin typeface="Microsoft YaHei"/>
              </a:defRPr>
            </a:pPr>
            <a:r>
              <a:t>  (user_id, book_id, borrow_date,</a:t>
            </a:r>
          </a:p>
          <a:p>
            <a:pPr>
              <a:spcAft>
                <a:spcPts val="500"/>
              </a:spcAft>
              <a:defRPr sz="1000" b="0">
                <a:solidFill>
                  <a:srgbClr val="569CD6"/>
                </a:solidFill>
                <a:latin typeface="Microsoft YaHei"/>
              </a:defRPr>
            </a:pPr>
            <a:r>
              <a:t>   due_date, status)</a:t>
            </a:r>
          </a:p>
          <a:p>
            <a:pPr>
              <a:spcAft>
                <a:spcPts val="500"/>
              </a:spcAft>
              <a:defRPr sz="1000" b="0">
                <a:solidFill>
                  <a:srgbClr val="569CD6"/>
                </a:solidFill>
                <a:latin typeface="Microsoft YaHei"/>
              </a:defRPr>
            </a:pPr>
            <a:r>
              <a:t>VALUES (?, ?, CURDATE(),</a:t>
            </a:r>
          </a:p>
          <a:p>
            <a:pPr>
              <a:spcAft>
                <a:spcPts val="500"/>
              </a:spcAft>
              <a:defRPr sz="1000" b="0">
                <a:solidFill>
                  <a:srgbClr val="CE9178"/>
                </a:solidFill>
                <a:latin typeface="Microsoft YaHei"/>
              </a:defRPr>
            </a:pPr>
            <a:r>
              <a:t>  DATE_ADD(CURDATE(),INTERVAL 30 DAY),</a:t>
            </a:r>
          </a:p>
          <a:p>
            <a:pPr>
              <a:spcAft>
                <a:spcPts val="500"/>
              </a:spcAft>
              <a:defRPr sz="1000" b="0">
                <a:solidFill>
                  <a:srgbClr val="569CD6"/>
                </a:solidFill>
                <a:latin typeface="Microsoft YaHei"/>
              </a:defRPr>
            </a:pPr>
            <a:r>
              <a:t>  'borrowed')</a:t>
            </a:r>
          </a:p>
          <a:p>
            <a:pPr>
              <a:spcAft>
                <a:spcPts val="5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500"/>
              </a:spcAft>
              <a:defRPr sz="1000" b="0">
                <a:solidFill>
                  <a:srgbClr val="6A995C"/>
                </a:solidFill>
                <a:latin typeface="Microsoft YaHei"/>
              </a:defRPr>
            </a:pPr>
            <a:r>
              <a:t>-- 关联查询借阅记录</a:t>
            </a:r>
          </a:p>
          <a:p>
            <a:pPr>
              <a:spcAft>
                <a:spcPts val="500"/>
              </a:spcAft>
              <a:defRPr sz="1000" b="0">
                <a:solidFill>
                  <a:srgbClr val="569CD6"/>
                </a:solidFill>
                <a:latin typeface="Microsoft YaHei"/>
              </a:defRPr>
            </a:pPr>
            <a:r>
              <a:t>SELECT r.*, u.real_name,</a:t>
            </a:r>
          </a:p>
          <a:p>
            <a:pPr>
              <a:spcAft>
                <a:spcPts val="500"/>
              </a:spcAft>
              <a:defRPr sz="1000" b="0">
                <a:solidFill>
                  <a:srgbClr val="569CD6"/>
                </a:solidFill>
                <a:latin typeface="Microsoft YaHei"/>
              </a:defRPr>
            </a:pPr>
            <a:r>
              <a:t>  b.title, b.author</a:t>
            </a:r>
          </a:p>
          <a:p>
            <a:pPr>
              <a:spcAft>
                <a:spcPts val="500"/>
              </a:spcAft>
              <a:defRPr sz="1000" b="0">
                <a:solidFill>
                  <a:srgbClr val="569CD6"/>
                </a:solidFill>
                <a:latin typeface="Microsoft YaHei"/>
              </a:defRPr>
            </a:pPr>
            <a:r>
              <a:t>FROM borrow_records r</a:t>
            </a:r>
          </a:p>
          <a:p>
            <a:pPr>
              <a:spcAft>
                <a:spcPts val="500"/>
              </a:spcAft>
              <a:defRPr sz="1000" b="0">
                <a:solidFill>
                  <a:srgbClr val="569CD6"/>
                </a:solidFill>
                <a:latin typeface="Microsoft YaHei"/>
              </a:defRPr>
            </a:pPr>
            <a:r>
              <a:t>JOIN users u ON r.user_id = u.id</a:t>
            </a:r>
          </a:p>
          <a:p>
            <a:pPr>
              <a:spcAft>
                <a:spcPts val="500"/>
              </a:spcAft>
              <a:defRPr sz="1000" b="0">
                <a:solidFill>
                  <a:srgbClr val="569CD6"/>
                </a:solidFill>
                <a:latin typeface="Microsoft YaHei"/>
              </a:defRPr>
            </a:pPr>
            <a:r>
              <a:t>JOIN books b ON r.book_id = b.id</a:t>
            </a:r>
          </a:p>
          <a:p>
            <a:pPr>
              <a:spcAft>
                <a:spcPts val="500"/>
              </a:spcAft>
              <a:defRPr sz="1000" b="0">
                <a:solidFill>
                  <a:srgbClr val="569CD6"/>
                </a:solidFill>
                <a:latin typeface="Microsoft YaHei"/>
              </a:defRPr>
            </a:pPr>
            <a:r>
              <a:t>ORDER BY r.status, r.borrow_date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029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47A1"/>
                </a:solidFill>
                <a:latin typeface="Microsoft YaHei"/>
              </a:defRPr>
            </a:pPr>
            <a:r>
              <a:t>🏗️ 设计亮点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949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@WebServlet 注解路由，零XML配置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DAO 模式分离数据访问与业务逻辑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数据库连接工具类统一管理资源回收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Session 会话管理 + 权限拦截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47A1"/>
                </a:solidFill>
                <a:latin typeface="Microsoft YaHei"/>
              </a:defRPr>
            </a:pPr>
            <a:r>
              <a:t>🎨 前端亮点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3949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CSS Grid 响应式卡片布局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模态框管理表单，页面无跳转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渐变色导航栏 + 微动效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• JSTL + EL 表达式动态渲染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54864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47A1"/>
                </a:solidFill>
                <a:latin typeface="Microsoft YaHei"/>
              </a:defRPr>
            </a:pPr>
            <a:r>
              <a:t>07  项目总结与展望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2C41A"/>
                </a:solidFill>
                <a:latin typeface="Microsoft YaHei"/>
              </a:defRPr>
            </a:pPr>
            <a:r>
              <a:t>✅ 已完成功能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✓   用户注册 / 登录 / 登出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✓   图书浏览 + 多条件搜索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✓   借阅图书（库存管理 + 重复借阅检测）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✓   归还图书（记录更新 + 库存恢复）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✓   个人借阅历史查看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✓   管理员图书 CRUD 管理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✓   管理员查看全部借阅记录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✓   权限控制 + Session 拦截</a:t>
            </a:r>
          </a:p>
          <a:p>
            <a:pPr>
              <a:spcAft>
                <a:spcPts val="8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✓   嵌入式 Jetty，零配置启动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8C16"/>
                </a:solidFill>
                <a:latin typeface="Microsoft YaHei"/>
              </a:defRPr>
            </a:pPr>
            <a:r>
              <a:t>🔮 后续可扩展方向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8346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→  接入 Spring Boot 框架，简化配置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→  增加图书封面图片上传功能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→  引入 MyBatis / JPA 持久层框架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→  增加借阅提醒（短信 / 邮件）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→  添加读者评论与评分系统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→  数据可视化（借阅热力图、统计图表）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→  前后端分离（Vue + REST API）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5669280"/>
            <a:ext cx="10058400" cy="8229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760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6126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DEFB"/>
                </a:solidFill>
                <a:latin typeface="Microsoft YaHei"/>
              </a:defRPr>
            </a:pPr>
            <a:r>
              <a:t>Java源文件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5760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6126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DEFB"/>
                </a:solidFill>
                <a:latin typeface="Microsoft YaHei"/>
              </a:defRPr>
            </a:pPr>
            <a:r>
              <a:t>Servlet控制器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5760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6126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DEFB"/>
                </a:solidFill>
                <a:latin typeface="Microsoft YaHei"/>
              </a:defRPr>
            </a:pPr>
            <a:r>
              <a:t>数据表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5760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79" y="6126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DEFB"/>
                </a:solidFill>
                <a:latin typeface="Microsoft YaHei"/>
              </a:defRPr>
            </a:pPr>
            <a:r>
              <a:t>页面模板文件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5760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6126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DEFB"/>
                </a:solidFill>
                <a:latin typeface="Microsoft YaHei"/>
              </a:defRPr>
            </a:pPr>
            <a:r>
              <a:t>一键启动命令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36576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DEFB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0CAF9"/>
                </a:solidFill>
                <a:latin typeface="Microsoft YaHei"/>
              </a:defRPr>
            </a:pPr>
            <a:r>
              <a:t>图书馆借还系统 · JavaWeb期末答辩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B5F6"/>
                </a:solidFill>
                <a:latin typeface="Microsoft YaHei"/>
              </a:defRPr>
            </a:pPr>
            <a:r>
              <a:t>请各位老师批评指正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